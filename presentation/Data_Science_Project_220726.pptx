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88825"/>
  <p:notesSz cx="6858000" cy="12188825"/>
  <p:embeddedFontLst>
    <p:embeddedFont>
      <p:font typeface="Assistant SemiBold"/>
      <p:regular r:id="rId15"/>
      <p:bold r:id="rId16"/>
    </p:embeddedFont>
    <p:embeddedFont>
      <p:font typeface="Heebo"/>
      <p:regular r:id="rId17"/>
      <p:bold r:id="rId18"/>
    </p:embeddedFont>
    <p:embeddedFont>
      <p:font typeface="Assistant"/>
      <p:regular r:id="rId19"/>
      <p:bold r:id="rId20"/>
    </p:embeddedFont>
    <p:embeddedFont>
      <p:font typeface="Rubik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YKlBDNa5hv0k63IzyL5k3mUZX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bold.fntdata"/><Relationship Id="rId22" Type="http://schemas.openxmlformats.org/officeDocument/2006/relationships/font" Target="fonts/Rubik-bold.fntdata"/><Relationship Id="rId21" Type="http://schemas.openxmlformats.org/officeDocument/2006/relationships/font" Target="fonts/Rubik-regular.fntdata"/><Relationship Id="rId24" Type="http://schemas.openxmlformats.org/officeDocument/2006/relationships/font" Target="fonts/Rubik-boldItalic.fntdata"/><Relationship Id="rId23" Type="http://schemas.openxmlformats.org/officeDocument/2006/relationships/font" Target="fonts/Rubik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Assistan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Heebo-regular.fntdata"/><Relationship Id="rId16" Type="http://schemas.openxmlformats.org/officeDocument/2006/relationships/font" Target="fonts/AssistantSemiBold-bold.fntdata"/><Relationship Id="rId19" Type="http://schemas.openxmlformats.org/officeDocument/2006/relationships/font" Target="fonts/Assistant-regular.fntdata"/><Relationship Id="rId18" Type="http://schemas.openxmlformats.org/officeDocument/2006/relationships/font" Target="fonts/Heeb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150"/>
            <a:ext cx="4572225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-630238" y="914400"/>
            <a:ext cx="8120063" cy="4570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143225" y="914150"/>
            <a:ext cx="4572225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43225" y="914150"/>
            <a:ext cx="4572225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-630238" y="914400"/>
            <a:ext cx="8120063" cy="4570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-630238" y="914400"/>
            <a:ext cx="8120063" cy="4570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-1165225" y="0"/>
            <a:ext cx="5330825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-1165225" y="0"/>
            <a:ext cx="5330825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820" y="914162"/>
            <a:ext cx="4571100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820" y="914162"/>
            <a:ext cx="4571100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5789692"/>
            <a:ext cx="54864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1143820" y="914162"/>
            <a:ext cx="4571100" cy="457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13" Type="http://schemas.openxmlformats.org/officeDocument/2006/relationships/image" Target="../media/image13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5" Type="http://schemas.openxmlformats.org/officeDocument/2006/relationships/image" Target="../media/image28.png"/><Relationship Id="rId14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image" Target="../media/image17.png"/><Relationship Id="rId5" Type="http://schemas.openxmlformats.org/officeDocument/2006/relationships/image" Target="../media/image5.png"/><Relationship Id="rId19" Type="http://schemas.openxmlformats.org/officeDocument/2006/relationships/image" Target="../media/image18.png"/><Relationship Id="rId6" Type="http://schemas.openxmlformats.org/officeDocument/2006/relationships/image" Target="../media/image6.png"/><Relationship Id="rId18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3.png"/><Relationship Id="rId11" Type="http://schemas.openxmlformats.org/officeDocument/2006/relationships/image" Target="../media/image27.png"/><Relationship Id="rId22" Type="http://schemas.openxmlformats.org/officeDocument/2006/relationships/image" Target="../media/image36.png"/><Relationship Id="rId10" Type="http://schemas.openxmlformats.org/officeDocument/2006/relationships/image" Target="../media/image24.png"/><Relationship Id="rId21" Type="http://schemas.openxmlformats.org/officeDocument/2006/relationships/image" Target="../media/image34.png"/><Relationship Id="rId13" Type="http://schemas.openxmlformats.org/officeDocument/2006/relationships/image" Target="../media/image32.png"/><Relationship Id="rId24" Type="http://schemas.openxmlformats.org/officeDocument/2006/relationships/image" Target="../media/image38.png"/><Relationship Id="rId12" Type="http://schemas.openxmlformats.org/officeDocument/2006/relationships/image" Target="../media/image26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5" Type="http://schemas.openxmlformats.org/officeDocument/2006/relationships/image" Target="../media/image29.png"/><Relationship Id="rId14" Type="http://schemas.openxmlformats.org/officeDocument/2006/relationships/image" Target="../media/image30.png"/><Relationship Id="rId17" Type="http://schemas.openxmlformats.org/officeDocument/2006/relationships/image" Target="../media/image31.png"/><Relationship Id="rId16" Type="http://schemas.openxmlformats.org/officeDocument/2006/relationships/image" Target="../media/image43.png"/><Relationship Id="rId5" Type="http://schemas.openxmlformats.org/officeDocument/2006/relationships/image" Target="../media/image19.png"/><Relationship Id="rId19" Type="http://schemas.openxmlformats.org/officeDocument/2006/relationships/image" Target="../media/image35.png"/><Relationship Id="rId6" Type="http://schemas.openxmlformats.org/officeDocument/2006/relationships/image" Target="../media/image23.png"/><Relationship Id="rId18" Type="http://schemas.openxmlformats.org/officeDocument/2006/relationships/image" Target="../media/image44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8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81.png"/><Relationship Id="rId13" Type="http://schemas.openxmlformats.org/officeDocument/2006/relationships/image" Target="../media/image60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49.png"/><Relationship Id="rId9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1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98.png"/><Relationship Id="rId11" Type="http://schemas.openxmlformats.org/officeDocument/2006/relationships/image" Target="../media/image70.png"/><Relationship Id="rId22" Type="http://schemas.openxmlformats.org/officeDocument/2006/relationships/image" Target="../media/image76.png"/><Relationship Id="rId10" Type="http://schemas.openxmlformats.org/officeDocument/2006/relationships/image" Target="../media/image68.png"/><Relationship Id="rId21" Type="http://schemas.openxmlformats.org/officeDocument/2006/relationships/image" Target="../media/image78.png"/><Relationship Id="rId13" Type="http://schemas.openxmlformats.org/officeDocument/2006/relationships/image" Target="../media/image69.png"/><Relationship Id="rId12" Type="http://schemas.openxmlformats.org/officeDocument/2006/relationships/image" Target="../media/image83.png"/><Relationship Id="rId23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7.png"/><Relationship Id="rId15" Type="http://schemas.openxmlformats.org/officeDocument/2006/relationships/image" Target="../media/image89.png"/><Relationship Id="rId14" Type="http://schemas.openxmlformats.org/officeDocument/2006/relationships/image" Target="../media/image77.png"/><Relationship Id="rId17" Type="http://schemas.openxmlformats.org/officeDocument/2006/relationships/image" Target="../media/image74.png"/><Relationship Id="rId16" Type="http://schemas.openxmlformats.org/officeDocument/2006/relationships/image" Target="../media/image72.png"/><Relationship Id="rId5" Type="http://schemas.openxmlformats.org/officeDocument/2006/relationships/image" Target="../media/image65.png"/><Relationship Id="rId19" Type="http://schemas.openxmlformats.org/officeDocument/2006/relationships/image" Target="../media/image75.png"/><Relationship Id="rId6" Type="http://schemas.openxmlformats.org/officeDocument/2006/relationships/image" Target="../media/image64.png"/><Relationship Id="rId18" Type="http://schemas.openxmlformats.org/officeDocument/2006/relationships/image" Target="../media/image73.png"/><Relationship Id="rId7" Type="http://schemas.openxmlformats.org/officeDocument/2006/relationships/image" Target="../media/image63.png"/><Relationship Id="rId8" Type="http://schemas.openxmlformats.org/officeDocument/2006/relationships/image" Target="../media/image6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7.png"/><Relationship Id="rId10" Type="http://schemas.openxmlformats.org/officeDocument/2006/relationships/image" Target="../media/image90.png"/><Relationship Id="rId13" Type="http://schemas.openxmlformats.org/officeDocument/2006/relationships/image" Target="../media/image101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Relationship Id="rId9" Type="http://schemas.openxmlformats.org/officeDocument/2006/relationships/image" Target="../media/image92.png"/><Relationship Id="rId15" Type="http://schemas.openxmlformats.org/officeDocument/2006/relationships/image" Target="../media/image94.png"/><Relationship Id="rId14" Type="http://schemas.openxmlformats.org/officeDocument/2006/relationships/image" Target="../media/image96.png"/><Relationship Id="rId16" Type="http://schemas.openxmlformats.org/officeDocument/2006/relationships/image" Target="../media/image97.png"/><Relationship Id="rId5" Type="http://schemas.openxmlformats.org/officeDocument/2006/relationships/image" Target="../media/image84.png"/><Relationship Id="rId6" Type="http://schemas.openxmlformats.org/officeDocument/2006/relationships/image" Target="../media/image80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png"/><Relationship Id="rId4" Type="http://schemas.openxmlformats.org/officeDocument/2006/relationships/image" Target="../media/image93.png"/><Relationship Id="rId9" Type="http://schemas.openxmlformats.org/officeDocument/2006/relationships/image" Target="../media/image99.png"/><Relationship Id="rId5" Type="http://schemas.openxmlformats.org/officeDocument/2006/relationships/image" Target="../media/image102.png"/><Relationship Id="rId6" Type="http://schemas.openxmlformats.org/officeDocument/2006/relationships/image" Target="../media/image64.png"/><Relationship Id="rId7" Type="http://schemas.openxmlformats.org/officeDocument/2006/relationships/image" Target="../media/image95.png"/><Relationship Id="rId8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9502" y="4772712"/>
            <a:ext cx="3866143" cy="76180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6781800"/>
            <a:ext cx="121887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0531907" y="381000"/>
            <a:ext cx="108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מבוא לפרויקט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71351" y="390525"/>
            <a:ext cx="7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01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323088" y="6229350"/>
            <a:ext cx="154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מערכת חיזוי וניתוח נתוני עתק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2380630" y="1944588"/>
            <a:ext cx="86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מבוא לפרויקט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16000" y="3148450"/>
            <a:ext cx="10539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הפרויקט בוחן את מוכנותן של מדינות העולם, באמצעות שילוב של משתני בריאות גלובליים, למגיפה העולמית הבאה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והשוואתו למשתנה בינארי של 1 [מוכנות] או 0 [אי מוכנות] של מדינה להתמודד עם מגיפה עולמית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7441815" y="4947787"/>
            <a:ext cx="336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0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מגישות הפרויקט</a:t>
            </a:r>
            <a:r>
              <a:rPr b="1" i="0" lang="en-US" sz="10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4333309" y="5269025"/>
            <a:ext cx="647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ליזה גולן, רווית בר-לב, הודיה צינוביץ וחגית ניב-דרורי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946879" y="2268438"/>
            <a:ext cx="910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האם העולם מוכן למגיפה הבאה?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4814" y="1567496"/>
            <a:ext cx="4982658" cy="2494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" name="Google Shape;3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4814" y="4290639"/>
            <a:ext cx="4982658" cy="1542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" name="Google Shape;3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0858" y="1557824"/>
            <a:ext cx="2750668" cy="1942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" name="Google Shape;3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499" y="1557824"/>
            <a:ext cx="2750817" cy="1942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" name="Google Shape;3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50858" y="3728959"/>
            <a:ext cx="2750668" cy="2113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" name="Google Shape;3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499" y="3728959"/>
            <a:ext cx="2750817" cy="21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-1" y="6780927"/>
            <a:ext cx="12188825" cy="761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9044" y="648425"/>
            <a:ext cx="11598429" cy="438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None/>
            </a:pPr>
            <a:r>
              <a:rPr b="1" i="0" lang="en-US" sz="2849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הבעיה העסקית והצורך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0731880" y="381794"/>
            <a:ext cx="885594" cy="2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רקע וצרכים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71351" y="391317"/>
            <a:ext cx="720140" cy="2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02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575570" y="6228621"/>
            <a:ext cx="3037684" cy="161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פרויקט גמר - למידת מכונה וניתוח נתוני עתק | רקע וצרכים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7224289" y="1819370"/>
            <a:ext cx="4331913" cy="276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1" i="0" lang="en-US" sz="1799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        הבעיה והאתגר העסקי</a:t>
            </a:r>
            <a:endParaRPr b="1" i="0" sz="1799" u="none" cap="none" strike="noStrike">
              <a:solidFill>
                <a:srgbClr val="F39C1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872877" y="2224550"/>
            <a:ext cx="4468442" cy="158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3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הפרויקט בוחן ומעריך את מוכנותן של מדינות העולם להתפרצות מגיפה עתידית.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3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לשם כך, יישמנו גישה הוליסטית ומבוססת נתונים,  המשלבת באופן שיטתי ומגוון משתני בריאות גלובליים שנבחרו בקפידה ומוצגים להלן:</a:t>
            </a:r>
            <a:endParaRPr b="0" i="0" sz="1800" u="none" cap="none" strike="noStrike">
              <a:solidFill>
                <a:srgbClr val="CBD5E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44" name="Google Shape;4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03284" y="4823900"/>
            <a:ext cx="476126" cy="476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 txBox="1"/>
          <p:nvPr/>
        </p:nvSpPr>
        <p:spPr>
          <a:xfrm>
            <a:off x="6872877" y="4490612"/>
            <a:ext cx="3859001" cy="1142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מתודולוגיית הניתוח המדעי: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  המודל מסתמך על נתוני התמודדות ותמותה היסטוריים  שנמדדו ונאספו ממגיפת הקורונה העולמית החל משנת 2019  ועד לשנת 2022.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3769875" y="2424375"/>
            <a:ext cx="23127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זיהוי מוקדם של סיכונים,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בדיקות בהיקפים רחבים ומנגנוני דיווח אמינים ומהירים.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790516" y="2310104"/>
            <a:ext cx="23127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מדידת כוח האדם הרפואי, תשתית מיטות אשפוז וטיפול נמרץ הזמינים לתושבים בעתות חירום.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3769876" y="4595508"/>
            <a:ext cx="2312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אחוז האוכלוסייה המבוגרת בסיכון ומאפיינים גיאוגרפיים לאומיים.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790516" y="4481238"/>
            <a:ext cx="2312782" cy="1142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9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מידת הנגישות של תשתיות דיגיטליות ורשת האינטרנט לניהול משברים מרוחקים במדינה.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" name="Google Shape;50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46105" y="1843499"/>
            <a:ext cx="228540" cy="22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" name="Google Shape;51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36600" y="4957215"/>
            <a:ext cx="209495" cy="209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" name="Google Shape;5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95656" y="1833977"/>
            <a:ext cx="386852" cy="4189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3769876" y="1776843"/>
            <a:ext cx="1902086" cy="50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יכולת ניטור וגילוי מוקדם</a:t>
            </a:r>
            <a:endParaRPr b="1" i="0" sz="165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54" name="Google Shape;54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84308" y="1776842"/>
            <a:ext cx="418991" cy="41899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808373" y="1853022"/>
            <a:ext cx="1849749" cy="25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חוסן מערכת הבריאות</a:t>
            </a:r>
            <a:endParaRPr b="1" i="0" sz="165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56" name="Google Shape;56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40739" y="4005112"/>
            <a:ext cx="341769" cy="4189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3769876" y="3947977"/>
            <a:ext cx="1949423" cy="50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פגיעות דמוגרפית וגאוגרפית</a:t>
            </a:r>
            <a:endParaRPr b="1" i="0" sz="165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58" name="Google Shape;58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84308" y="3947977"/>
            <a:ext cx="418991" cy="41899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1246408" y="4024157"/>
            <a:ext cx="1389811" cy="25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אימוץ טכנולוגיה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0" name="Google Shape;60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803380" y="1957770"/>
            <a:ext cx="171405" cy="17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" name="Google Shape;61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798579" y="1900635"/>
            <a:ext cx="190450" cy="17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" name="Google Shape;62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02190" y="4128905"/>
            <a:ext cx="219018" cy="17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" name="Google Shape;63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784295" y="4071770"/>
            <a:ext cx="219018" cy="171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351" y="1831300"/>
            <a:ext cx="11046123" cy="80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351" y="4449694"/>
            <a:ext cx="11046123" cy="1119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" name="Google Shape;7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8313" y="2779684"/>
            <a:ext cx="2469159" cy="15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5980" y="2779684"/>
            <a:ext cx="2839495" cy="15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53833" y="2779684"/>
            <a:ext cx="2469308" cy="15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" name="Google Shape;7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499" y="2779684"/>
            <a:ext cx="2839495" cy="15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8936" y="4778644"/>
            <a:ext cx="4483916" cy="76477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-1" y="6780927"/>
            <a:ext cx="12188825" cy="761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9044" y="648425"/>
            <a:ext cx="11598429" cy="438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None/>
            </a:pPr>
            <a:r>
              <a:rPr b="1" i="0" lang="en-US" sz="2849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הפתרון המערכתי והגדרת המשתנים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0503339" y="381794"/>
            <a:ext cx="1114135" cy="2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פתרון טכנולוגי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71351" y="391317"/>
            <a:ext cx="720140" cy="20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03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4654130" y="6228621"/>
            <a:ext cx="2880562" cy="161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מערכת חיזוי וניתוח נתוני עתק | הגדרת משתני קלט ויעד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71323" y="2259812"/>
            <a:ext cx="10608087" cy="238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399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נבנה מודל למידת מכונה המיועד לחיזוי מגמות מוכנות עם דיוק אופטימלי וזמן ריצה מנימלי, המבוסס על  9 משתני קלט בשנים  2020- 2021 </a:t>
            </a:r>
            <a:endParaRPr b="0" i="0" sz="1425" u="none" cap="none" strike="noStrike">
              <a:solidFill>
                <a:srgbClr val="CBD5E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82" name="Google Shape;8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69915" y="1983660"/>
            <a:ext cx="209495" cy="20949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7818121" y="1955092"/>
            <a:ext cx="325657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מטרת המודל והמערכת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5540915" y="4954388"/>
            <a:ext cx="5828972" cy="217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משתנה היעד מחושב באופן יחסי לחציון העולמי ומגדיר את רמת המוכנות של המדינה:</a:t>
            </a:r>
            <a:endParaRPr b="0" i="0" sz="1350" u="none" cap="none" strike="noStrike">
              <a:solidFill>
                <a:srgbClr val="CBD5E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85" name="Google Shape;85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1146" y="4848747"/>
            <a:ext cx="4160448" cy="593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208005" y="2936805"/>
            <a:ext cx="228540" cy="1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9263479" y="2912998"/>
            <a:ext cx="1868346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0D2FF"/>
                </a:solidFill>
                <a:latin typeface="Assistant"/>
                <a:ea typeface="Assistant"/>
                <a:cs typeface="Assistant"/>
                <a:sym typeface="Assistant"/>
              </a:rPr>
              <a:t>משאבי מערכת הבריאות</a:t>
            </a:r>
            <a:endParaRPr b="1" i="0" sz="1425" u="none" cap="none" strike="noStrike">
              <a:solidFill>
                <a:srgbClr val="00D2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9108352" y="3363567"/>
            <a:ext cx="2145393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מיטות אשפוז  ל-1,000 איש (%)</a:t>
            </a:r>
            <a:endParaRPr b="0" i="0" sz="1275" u="none" cap="none" strike="noStrike">
              <a:solidFill>
                <a:srgbClr val="E2E8F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9046009" y="3814907"/>
            <a:ext cx="2161996" cy="42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רופאים זמינים לכל 1,000  תושבים (%)</a:t>
            </a:r>
            <a:endParaRPr b="0" i="0" sz="1275" u="none" cap="none" strike="noStrike">
              <a:solidFill>
                <a:srgbClr val="E2E8F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90" name="Google Shape;90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43620" y="2936805"/>
            <a:ext cx="180928" cy="1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 txBox="1"/>
          <p:nvPr/>
        </p:nvSpPr>
        <p:spPr>
          <a:xfrm>
            <a:off x="6568440" y="2912998"/>
            <a:ext cx="1999000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0D2FF"/>
                </a:solidFill>
                <a:latin typeface="Assistant"/>
                <a:ea typeface="Assistant"/>
                <a:cs typeface="Assistant"/>
                <a:sym typeface="Assistant"/>
              </a:rPr>
              <a:t>מדדי מוכנות ומחלה</a:t>
            </a:r>
            <a:endParaRPr b="1" i="0" sz="1425" u="none" cap="none" strike="noStrike">
              <a:solidFill>
                <a:srgbClr val="00D2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915500" y="3283552"/>
            <a:ext cx="2515730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ציון "Early Detection" (GHS)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932678" y="3574848"/>
            <a:ext cx="2515730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בדיקות קורונה ב-2021 ל-1,000 איש (%)</a:t>
            </a:r>
            <a:endParaRPr b="0" i="0" sz="1275" u="none" cap="none" strike="noStrike">
              <a:solidFill>
                <a:srgbClr val="E2E8F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915500" y="3873573"/>
            <a:ext cx="2515730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ציון מדד GHSI  הכללי והרציף</a:t>
            </a:r>
            <a:endParaRPr b="0" i="0" sz="1275" u="none" cap="none" strike="noStrike">
              <a:solidFill>
                <a:srgbClr val="E2E8F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.png" id="95" name="Google Shape;95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13673" y="2936805"/>
            <a:ext cx="228540" cy="1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3860339" y="2912998"/>
            <a:ext cx="1677155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מוכנות טכנולוגית</a:t>
            </a:r>
            <a:endParaRPr b="1" i="0" sz="1425" u="none" cap="none" strike="noStrike">
              <a:solidFill>
                <a:srgbClr val="F39C1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3696671" y="3363567"/>
            <a:ext cx="2145542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l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משתמשי אינטרנט במדינה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8" name="Google Shape;98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001527" y="2936805"/>
            <a:ext cx="228540" cy="18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752280" y="2912998"/>
            <a:ext cx="2173067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0D2FF"/>
                </a:solidFill>
                <a:latin typeface="Assistant"/>
                <a:ea typeface="Assistant"/>
                <a:cs typeface="Assistant"/>
                <a:sym typeface="Assistant"/>
              </a:rPr>
              <a:t>פרופיל דמוגרפי ובריאותי</a:t>
            </a:r>
            <a:endParaRPr b="1" i="0" sz="1425" u="none" cap="none" strike="noStrike">
              <a:solidFill>
                <a:srgbClr val="00D2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50610" y="3260692"/>
            <a:ext cx="2515730" cy="20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Assistant"/>
                <a:ea typeface="Assistant"/>
                <a:cs typeface="Assistant"/>
                <a:sym typeface="Assistant"/>
              </a:rPr>
              <a:t>שיעור בני 60+  באוכלוסייה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1" name="Google Shape;101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208005" y="4659190"/>
            <a:ext cx="161883" cy="209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5379181" y="4630622"/>
            <a:ext cx="57526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הגדרת משתנה מטרה בנארי (Y)  המבוסס על תמותה עודפת ב2022: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253745" y="3351035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276605" y="3863231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519827" y="3255810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519827" y="3562316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519827" y="3868821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37493" y="3351035"/>
            <a:ext cx="304721" cy="2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925346" y="3255810"/>
            <a:ext cx="304721" cy="2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384" y="0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4757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1033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8821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5097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2885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9160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46948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3224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71012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7288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95076" y="2168425"/>
            <a:ext cx="41899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351" y="2825650"/>
            <a:ext cx="1666441" cy="190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0" y="6781800"/>
            <a:ext cx="121887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95198" y="1041350"/>
            <a:ext cx="115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תרשים זרימת מידע (High-Level)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655699" y="476250"/>
            <a:ext cx="96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ארכיטקטורה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71351" y="485775"/>
            <a:ext cx="7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04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323088" y="6133951"/>
            <a:ext cx="154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מערכת חיזוי וניתוח נתוני עתק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2" name="Google Shape;132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93911" y="3130450"/>
            <a:ext cx="10474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17974" y="3130450"/>
            <a:ext cx="10474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42038" y="3130450"/>
            <a:ext cx="10474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66102" y="3130450"/>
            <a:ext cx="10474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90165" y="3130450"/>
            <a:ext cx="10474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10003882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00D2FF"/>
                </a:solidFill>
                <a:latin typeface="Assistant"/>
                <a:ea typeface="Assistant"/>
                <a:cs typeface="Assistant"/>
                <a:sym typeface="Assistant"/>
              </a:rPr>
              <a:t>קלט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8127946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ארגון נתונים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252009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הכנת נתונים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376073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עיבוד טרום מידול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500137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הרצת המודלים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24200" y="3016150"/>
            <a:ext cx="1489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תוצר ומסקנות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0074826" y="3587650"/>
            <a:ext cx="12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קובצי  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0074826" y="3850481"/>
            <a:ext cx="1285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מאגרי מידע חיצוניים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198889" y="3587650"/>
            <a:ext cx="1285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יצירת קישוריות בין הקבצים  השונים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322953" y="3587650"/>
            <a:ext cx="12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איחוד קבצים חלקי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507423" y="4238612"/>
            <a:ext cx="12855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בנייה ויצירה של מטריקת משתני החיזוי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2571080" y="3692955"/>
            <a:ext cx="12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הרצת מודל בסיס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571080" y="4113744"/>
            <a:ext cx="12855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הרצת מודל עצים מתקדם (Tree-based)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95144" y="3758771"/>
            <a:ext cx="1285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השוואת מדדי ביצועים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695144" y="4390170"/>
            <a:ext cx="1285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ייצוא פלטים וויזואליזציה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1446068" y="3578125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1446068" y="3840956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9570132" y="3578125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7694196" y="3578125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7694196" y="3840956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836983" y="3588512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3942323" y="3683430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942323" y="4104219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2066387" y="3749246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 flipH="1">
            <a:off x="2114046" y="4436426"/>
            <a:ext cx="2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28377" y="5225888"/>
            <a:ext cx="10665300" cy="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359529" y="4412717"/>
            <a:ext cx="12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הפקת סטטיסטיקות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730772" y="4218908"/>
            <a:ext cx="4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303928" y="3829149"/>
            <a:ext cx="1323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איחוד קבצים מלא ומילוי שדות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489888" y="3630922"/>
            <a:ext cx="1285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ניקוי נתונים, טיפול בערכים חסרים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5848739" y="3935936"/>
            <a:ext cx="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800" y="1647825"/>
            <a:ext cx="5332600" cy="4991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785" y="1647825"/>
            <a:ext cx="5332611" cy="419943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/>
          <p:nvPr/>
        </p:nvSpPr>
        <p:spPr>
          <a:xfrm>
            <a:off x="0" y="6781800"/>
            <a:ext cx="121887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295198" y="742950"/>
            <a:ext cx="11598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מה צריך כדי להפעיל את זה?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0484294" y="476250"/>
            <a:ext cx="113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דרישות מערכת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571351" y="485775"/>
            <a:ext cx="7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05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9" name="Google Shape;1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0447" y="2028825"/>
            <a:ext cx="514216" cy="5142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8636925" y="2124075"/>
            <a:ext cx="2079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סוגי המידע הדרושים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6894304" y="2710813"/>
            <a:ext cx="4380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מקורות מידע היסטוריים: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ייבוא ושימוש ב-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8 קבצי נתונים היסטוריים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מובנים ממספר מאגרים.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465750" y="4046675"/>
            <a:ext cx="47805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קישוריות וקשרים: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קבצים מקושרים בצורה מלאה באמצעות מפתח משותף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Location_key, Location_Key+Country_Code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6846750" y="5431670"/>
            <a:ext cx="43803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פורמט קלט נתמך: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תמיכה מלאה בנתונים טבלאיים לדוגמא CSV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6935" y="2028825"/>
            <a:ext cx="514216" cy="5142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2104477" y="2124075"/>
            <a:ext cx="293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דרישות הפעלה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844436" y="2730924"/>
            <a:ext cx="4342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סוג הריצה: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  ריצת קוד פייתון דרך Google Colab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825378" y="3705092"/>
            <a:ext cx="438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תזמון וקצב עדכון: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 הרצה עפ"י דרישה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863478" y="4286845"/>
            <a:ext cx="4342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ממשק הפעלה לפי דרישה: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אפשרות עתידית לטריגר מיידי וקריאה מבוססת ממשק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9" name="Google Shape;1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17568" y="2171700"/>
            <a:ext cx="199973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89773" y="2171700"/>
            <a:ext cx="228540" cy="22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74678" y="2781350"/>
            <a:ext cx="152360" cy="152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74700" y="4083875"/>
            <a:ext cx="152350" cy="1523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6132" y="2948611"/>
            <a:ext cx="171405" cy="152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19952" y="3770479"/>
            <a:ext cx="152360" cy="152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23762" y="4455949"/>
            <a:ext cx="190450" cy="152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74678" y="5633713"/>
            <a:ext cx="152360" cy="15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0" y="649224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7200" y="599125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 התוצאות שהתקבלו מול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233425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תוצאות ומדדים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515600" y="365760"/>
            <a:ext cx="1216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ourier New"/>
                <a:ea typeface="Courier New"/>
                <a:cs typeface="Courier New"/>
                <a:sym typeface="Courier New"/>
              </a:rPr>
              <a:t>06 /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00800" y="1583055"/>
            <a:ext cx="5029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0"/>
              <a:buFont typeface="Arial"/>
              <a:buNone/>
            </a:pPr>
            <a:r>
              <a:rPr b="1" lang="en-US" sz="10000">
                <a:solidFill>
                  <a:srgbClr val="F59E0B"/>
                </a:solidFill>
              </a:rPr>
              <a:t>82.91</a:t>
            </a:r>
            <a:r>
              <a:rPr b="1" i="0" lang="en-US" sz="10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94350" y="1777375"/>
            <a:ext cx="53493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רמת דיוק המודל היא 82.74% (Accuracy Score)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Stratified Repeated K-Fold Random Forest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38875" y="3430941"/>
            <a:ext cx="50292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6B6D4"/>
                </a:solidFill>
              </a:rPr>
              <a:t>רמת </a:t>
            </a:r>
            <a:r>
              <a:rPr b="1" i="0" lang="en-US" sz="2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דיוק</a:t>
            </a:r>
            <a:r>
              <a:rPr b="1" i="0" lang="en-US" sz="2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 ראשוני</a:t>
            </a:r>
            <a:r>
              <a:rPr b="1" i="0" lang="en-US" sz="2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 - Logistic Regress</a:t>
            </a:r>
            <a:r>
              <a:rPr b="1" i="0" lang="en-US" sz="2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94350" y="3046100"/>
            <a:ext cx="5349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lang="en-US" sz="2000">
                <a:solidFill>
                  <a:srgbClr val="CBD5E1"/>
                </a:solidFill>
              </a:rPr>
              <a:t>בעקבות הסרת משתני מחלות רקע והתכנסות ל 7 משתנים חלה ירידה קלה בדיוק המודל מ 83.55% ב RF המנצח ל 82.91%</a:t>
            </a:r>
            <a:br>
              <a:rPr lang="en-US" sz="2000">
                <a:solidFill>
                  <a:srgbClr val="CBD5E1"/>
                </a:solidFill>
              </a:rPr>
            </a:br>
            <a:r>
              <a:rPr lang="en-US" sz="2000">
                <a:solidFill>
                  <a:srgbClr val="CBD5E1"/>
                </a:solidFill>
              </a:rPr>
              <a:t>ב LR המנצח.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מערכת חיזוי וניתוח נתוני עתק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649224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57200" y="4572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חשיבות התוצר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" y="2286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תצוגת המוצר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0515600" y="365760"/>
            <a:ext cx="1216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ourier New"/>
                <a:ea typeface="Courier New"/>
                <a:cs typeface="Courier New"/>
                <a:sym typeface="Courier New"/>
              </a:rPr>
              <a:t>07 /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מערכת חיזוי וניתוח נתוני עתק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7068219" y="1444789"/>
            <a:ext cx="48471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המשתנה החשוב ביותר שתורם למודל הוא הגיל.</a:t>
            </a:r>
            <a:br>
              <a:rPr lang="en-US" sz="1800">
                <a:solidFill>
                  <a:schemeClr val="lt1"/>
                </a:solidFill>
              </a:rPr>
            </a:br>
            <a:r>
              <a:rPr lang="en-US" sz="1800">
                <a:solidFill>
                  <a:schemeClr val="lt1"/>
                </a:solidFill>
              </a:rPr>
              <a:t>ניכר שבני 60+ הם התורמים ביותר למדד תמותת הקורונה.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המשתנה השני בחשיבותו הוא ההון האנושי.</a:t>
            </a:r>
            <a:br>
              <a:rPr lang="en-US" sz="1800">
                <a:solidFill>
                  <a:schemeClr val="lt1"/>
                </a:solidFill>
              </a:rPr>
            </a:br>
            <a:r>
              <a:rPr lang="en-US" sz="1800">
                <a:solidFill>
                  <a:schemeClr val="lt1"/>
                </a:solidFill>
              </a:rPr>
              <a:t>ניכר שמספר הרופאים "מנצח" את מספר המיתות - כי ההון האנושי בבית החולים חזק מההון הפיזי.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הפער המשמעותי הוא שהתרומה של המוכנות הטכנולוגית צנחה לאפס. ניתן להסביר זאת על ידי </a:t>
            </a:r>
            <a:r>
              <a:rPr b="1" lang="en-US" sz="1800">
                <a:solidFill>
                  <a:schemeClr val="lt1"/>
                </a:solidFill>
              </a:rPr>
              <a:t>אפקט הסינון המשולב</a:t>
            </a:r>
            <a:r>
              <a:rPr lang="en-US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75" y="1303775"/>
            <a:ext cx="5943600" cy="46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0550" y="1954697"/>
            <a:ext cx="5580200" cy="438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025" y="2005811"/>
            <a:ext cx="5580200" cy="434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036" y="6438900"/>
            <a:ext cx="11312753" cy="26663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10974786" y="265525"/>
            <a:ext cx="90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9F1C"/>
                </a:solidFill>
                <a:latin typeface="Rubik"/>
                <a:ea typeface="Rubik"/>
                <a:cs typeface="Rubik"/>
                <a:sym typeface="Rubik"/>
              </a:rPr>
              <a:t>ניתוח מערכתי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0" y="585193"/>
            <a:ext cx="11751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יתרונות מרכזיים ואתגרים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10017691" y="2130772"/>
            <a:ext cx="163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יתרונות מרכזיים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4" name="Google Shape;23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1998" y="2126009"/>
            <a:ext cx="342811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3513810" y="2051793"/>
            <a:ext cx="244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אתגרים ומגבלות קיימות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6" name="Google Shape;23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441" y="2126009"/>
            <a:ext cx="342811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7223" y="2221259"/>
            <a:ext cx="15236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74663" y="2756717"/>
            <a:ext cx="30472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50838" y="3801431"/>
            <a:ext cx="30472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274663" y="4979544"/>
            <a:ext cx="30472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4666" y="2221259"/>
            <a:ext cx="15236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69888" y="2848781"/>
            <a:ext cx="11427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 txBox="1"/>
          <p:nvPr/>
        </p:nvSpPr>
        <p:spPr>
          <a:xfrm>
            <a:off x="6389611" y="2744006"/>
            <a:ext cx="477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בסיס נתונים טבלאי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6389611" y="3010706"/>
            <a:ext cx="4770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שימוש בבסיס נתונים טבלאי מפשט את הטיפול ואת יכולת ניתוח הנתונים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5" name="Google Shape;245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360366" y="3890582"/>
            <a:ext cx="13331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6341998" y="3785807"/>
            <a:ext cx="481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Linear Regression מודל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6341998" y="4100133"/>
            <a:ext cx="4818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היתרון בשימוש במודל: נותן את מדד הסבירות. המודל מציג מקדם לכל אחד מ-</a:t>
            </a: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7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המשתנים.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369888" y="5065269"/>
            <a:ext cx="11427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 txBox="1"/>
          <p:nvPr/>
        </p:nvSpPr>
        <p:spPr>
          <a:xfrm>
            <a:off x="6341998" y="4960494"/>
            <a:ext cx="481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Random Forrest Classifier מודל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341998" y="5253521"/>
            <a:ext cx="4818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היתרון בשימוש במודל: לרוב נותן דיוק חיזוי (Accuracy/F1-Score) גבוה יותר מהרגרסיה הלוגיסטית.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418314" y="2456605"/>
            <a:ext cx="42851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 txBox="1"/>
          <p:nvPr/>
        </p:nvSpPr>
        <p:spPr>
          <a:xfrm>
            <a:off x="609441" y="2428030"/>
            <a:ext cx="473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החשש ששימוש במשתני קלט אחוז התמו</a:t>
            </a: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ת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ה בפועל עלול לייצר מודל "נביא" שמנבא את העבר ולא את העתיד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3" name="Google Shape;253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399269" y="3142275"/>
            <a:ext cx="44755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609441" y="3113700"/>
            <a:ext cx="4713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להפוך את מדדי התוצאה של הקורונה (כמו אחוז תמותה או מהירות תגובה) למשתני המטרה (Target / Label)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5" name="Google Shape;255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418314" y="3795202"/>
            <a:ext cx="42851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 txBox="1"/>
          <p:nvPr/>
        </p:nvSpPr>
        <p:spPr>
          <a:xfrm>
            <a:off x="609441" y="3766627"/>
            <a:ext cx="473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נתוני קורונה (אפידמיולוגיה וחיסונים) נרשמו ברמה יומית, בעוד שפרופיל מדינה היה שנתי.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7" name="Google Shape;257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99269" y="4454545"/>
            <a:ext cx="44755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/>
        </p:nvSpPr>
        <p:spPr>
          <a:xfrm>
            <a:off x="609441" y="4425970"/>
            <a:ext cx="4713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לפני הזנת הנתונים למודל, ביצענו אגרגציה (ממוצע/ חציון/ מקסימום לכל מדינה) ויישרנו קו ב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9" name="Google Shape;259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418314" y="5133798"/>
            <a:ext cx="42851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 txBox="1"/>
          <p:nvPr/>
        </p:nvSpPr>
        <p:spPr>
          <a:xfrm>
            <a:off x="2569450" y="5105221"/>
            <a:ext cx="277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ערכים חסרים בנתוני בסיס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1" name="Google Shape;261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399269" y="5400498"/>
            <a:ext cx="44755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609441" y="5371923"/>
            <a:ext cx="4713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בחרנו להשמיט ערכים מחוסר רלוונטיות או לאכלס עם ערכים שונים בהתאם למשתנה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3" name="Google Shape;263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67242" y="4756698"/>
            <a:ext cx="1611608" cy="2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/>
          <p:nvPr/>
        </p:nvSpPr>
        <p:spPr>
          <a:xfrm>
            <a:off x="353650" y="123473"/>
            <a:ext cx="121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ourier New"/>
                <a:ea typeface="Courier New"/>
                <a:cs typeface="Courier New"/>
                <a:sym typeface="Courier New"/>
              </a:rPr>
              <a:t>08 / 10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" y="-9337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5982" y="2964209"/>
            <a:ext cx="3491491" cy="2300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666" y="2964209"/>
            <a:ext cx="3491639" cy="2300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99" y="2964209"/>
            <a:ext cx="3491491" cy="23005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0" y="6781800"/>
            <a:ext cx="121887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9045" y="647700"/>
            <a:ext cx="11598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הצעד הבא - הדרך להטמעה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10579519" y="381000"/>
            <a:ext cx="103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39C12"/>
                </a:solidFill>
                <a:latin typeface="Assistant"/>
                <a:ea typeface="Assistant"/>
                <a:cs typeface="Assistant"/>
                <a:sym typeface="Assistant"/>
              </a:rPr>
              <a:t>תוכנית עבודה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571351" y="390525"/>
            <a:ext cx="7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09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4527958" y="6229350"/>
            <a:ext cx="3132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פרויקט גמר - למידת מכונה וניתוח נתוני עתק | תוכנית עבודה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8" name="Google Shape;27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12780" y="2316509"/>
            <a:ext cx="22854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 txBox="1"/>
          <p:nvPr/>
        </p:nvSpPr>
        <p:spPr>
          <a:xfrm>
            <a:off x="5903962" y="2297459"/>
            <a:ext cx="53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האם מוכן להטמעה? לא בשלב הנוכחי, נדרשים הצעדים הבאים: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8373568" y="3983384"/>
            <a:ext cx="2996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בדיקת המדדים במודל רפואי, בדיקה על מידע חדש (לדוגמא: אבולה) וניתוח טעויות.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4596252" y="4084290"/>
            <a:ext cx="2996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ניהול שוטף של הקוד כולל גרסאות, איסוף נתוני אמת תקופתיים, הגדרת לוגיקת הניטור ואימון מחדש.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819085" y="4084290"/>
            <a:ext cx="2996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תיקוף לגבי ערכים חסרים.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3" name="Google Shape;28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3568" y="3373784"/>
            <a:ext cx="599919" cy="266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6252" y="3338512"/>
            <a:ext cx="576856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085" y="3338512"/>
            <a:ext cx="592925" cy="438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50897" y="3297584"/>
            <a:ext cx="41899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9113051" y="3377058"/>
            <a:ext cx="1809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תיקוף ומדידת ביצועים: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8" name="Google Shape;28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99620" y="3348037"/>
            <a:ext cx="39310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/>
        </p:nvSpPr>
        <p:spPr>
          <a:xfrm>
            <a:off x="5173108" y="3297584"/>
            <a:ext cx="20079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אריזה, ארכיטקטורה וניטור: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0" name="Google Shape;29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04300" y="3348037"/>
            <a:ext cx="411105" cy="4189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 txBox="1"/>
          <p:nvPr/>
        </p:nvSpPr>
        <p:spPr>
          <a:xfrm>
            <a:off x="1412010" y="3297584"/>
            <a:ext cx="1971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בדיקות אינטגרציה וריצה: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2" name="Google Shape;292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5168" y="3411884"/>
            <a:ext cx="190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77138" y="3462337"/>
            <a:ext cx="23806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90896" y="3462337"/>
            <a:ext cx="238063" cy="1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6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0600" y="2085075"/>
            <a:ext cx="5580200" cy="4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025" y="2032500"/>
            <a:ext cx="5580200" cy="4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036" y="6438900"/>
            <a:ext cx="11312753" cy="26663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 txBox="1"/>
          <p:nvPr/>
        </p:nvSpPr>
        <p:spPr>
          <a:xfrm>
            <a:off x="10784211" y="278425"/>
            <a:ext cx="966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9F1C"/>
                </a:solidFill>
                <a:latin typeface="Rubik"/>
                <a:ea typeface="Rubik"/>
                <a:cs typeface="Rubik"/>
                <a:sym typeface="Rubik"/>
              </a:rPr>
              <a:t>סיכום ומסקנות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0" y="795804"/>
            <a:ext cx="1175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סיכום ומסקנות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6456268" y="2847082"/>
            <a:ext cx="50091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במסגרת המחקר השווינו בין שני מודלים מרכזיים תחת ארכיטקטורת אימון קשיחה המונעת זליגת נתונים.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6241975" y="3734492"/>
            <a:ext cx="52233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המודל הלינארי נבחר כמודל הסופי של הפרוייקט </a:t>
            </a:r>
            <a:b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Random Forest והציג ביצועים עדיפים על פני  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 </a:t>
            </a:r>
            <a:b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של </a:t>
            </a: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82.91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% (Accuracy) דיוק כללי</a:t>
            </a:r>
            <a:b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של </a:t>
            </a: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83.70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%  F1-Score וציון </a:t>
            </a:r>
            <a:endParaRPr b="0" i="0" sz="1600" u="none" cap="none" strike="noStrike">
              <a:solidFill>
                <a:srgbClr val="CBD5E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marR="0" rtl="1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ורגישות של 87.55%</a:t>
            </a:r>
            <a:endParaRPr sz="1600">
              <a:solidFill>
                <a:srgbClr val="CBD5E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marR="0" rtl="1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ודיוק הסיווג 80.70%</a:t>
            </a:r>
            <a:b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509500" y="2847075"/>
            <a:ext cx="52233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אחד הממצאים המפתיעים והחשובים במחקר הוא החשיבות הנמוכה שיוחסה למספר מיטות האשפוז </a:t>
            </a:r>
            <a:b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לעומת החשיבות הגבוהה של כח האדם הרפואיX1 = 3.3%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b="0" i="0" sz="1600" u="none" cap="none" strike="noStrike">
              <a:solidFill>
                <a:srgbClr val="CBD5E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marR="0" rtl="0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X2 = 26.9%</a:t>
            </a:r>
            <a:r>
              <a:rPr b="0" i="0" lang="en-US" sz="1600" u="none" cap="none" strike="noStrike">
                <a:solidFill>
                  <a:srgbClr val="CBD5E1"/>
                </a:solidFill>
                <a:latin typeface="Heebo"/>
                <a:ea typeface="Heebo"/>
                <a:cs typeface="Heebo"/>
                <a:sym typeface="Heebo"/>
              </a:rPr>
              <a:t> 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547550" y="4495652"/>
            <a:ext cx="52233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1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❏"/>
            </a:pPr>
            <a:r>
              <a:rPr lang="en-US" sz="1600">
                <a:solidFill>
                  <a:schemeClr val="lt1"/>
                </a:solidFill>
              </a:rPr>
              <a:t>משתנה ה Y שלנו מודד תוצאת קוביד 2022 ומשווה אותה לפנדמיה הבאה. ולכן מבחינת מוכנות הכוונה היתה למדד נילווה ולא מדד ישיר.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marR="0" rtl="1" algn="r">
              <a:lnSpc>
                <a:spcPct val="154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❏"/>
            </a:pPr>
            <a:r>
              <a:rPr lang="en-US" sz="1600">
                <a:solidFill>
                  <a:schemeClr val="lt1"/>
                </a:solidFill>
              </a:rPr>
              <a:t>משתנה ה Y נבחר כמשתנה בינארי שמיוצג על ידי החציון. ההחלטה לגבי החציון היא מתודולוגית ולא מוחלטת.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8836898" y="2332732"/>
            <a:ext cx="275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השוואת מודלים וביצועים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0" name="Google Shape;31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6268" y="2342257"/>
            <a:ext cx="342811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 txBox="1"/>
          <p:nvPr/>
        </p:nvSpPr>
        <p:spPr>
          <a:xfrm>
            <a:off x="2066387" y="2332732"/>
            <a:ext cx="384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חשיבות תכונות ופרדוקס המשאבים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2" name="Google Shape;31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711" y="2342257"/>
            <a:ext cx="342811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1493" y="2437507"/>
            <a:ext cx="15236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8937" y="2437507"/>
            <a:ext cx="15236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 txBox="1"/>
          <p:nvPr/>
        </p:nvSpPr>
        <p:spPr>
          <a:xfrm>
            <a:off x="547557" y="261025"/>
            <a:ext cx="69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E1FF"/>
                </a:solidFill>
                <a:latin typeface="Rubik"/>
                <a:ea typeface="Rubik"/>
                <a:cs typeface="Rubik"/>
                <a:sym typeface="Rubik"/>
              </a:rPr>
              <a:t>10/10</a:t>
            </a:r>
            <a:endParaRPr b="1" i="0" sz="1350" u="none" cap="none" strike="noStrike">
              <a:solidFill>
                <a:srgbClr val="00E1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